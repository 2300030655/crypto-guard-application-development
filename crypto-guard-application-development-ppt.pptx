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6" r:id="rId1"/>
  </p:sldMasterIdLst>
  <p:sldIdLst>
    <p:sldId id="256" r:id="rId2"/>
    <p:sldId id="272" r:id="rId3"/>
    <p:sldId id="276" r:id="rId4"/>
    <p:sldId id="258" r:id="rId5"/>
    <p:sldId id="279" r:id="rId6"/>
    <p:sldId id="260" r:id="rId7"/>
    <p:sldId id="261" r:id="rId8"/>
    <p:sldId id="274" r:id="rId9"/>
    <p:sldId id="277" r:id="rId10"/>
    <p:sldId id="278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8B12FF42-78AA-43B7-BE38-617D6A986F75}" type="datetime1">
              <a:rPr lang="en-US" smtClean="0"/>
              <a:t>9/21/2026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121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82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495F72-74F9-4C7D-96DC-BB7900DFF168}" type="datetime1">
              <a:rPr lang="en-US" smtClean="0"/>
              <a:t>9/21/2026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86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327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794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A4DEF6-D0A5-424B-A38E-B8028C0E0D0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915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742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22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632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18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015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08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494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886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404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562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214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5549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193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8874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641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398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9997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161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451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3606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84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545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54CC253-5B58-46B1-B837-20A139832F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9CA10CE1-4994-4732-AAF3-4CC703C8131F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3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68" r:id="rId2"/>
    <p:sldLayoutId id="2147484169" r:id="rId3"/>
    <p:sldLayoutId id="2147484170" r:id="rId4"/>
    <p:sldLayoutId id="2147484171" r:id="rId5"/>
    <p:sldLayoutId id="2147484172" r:id="rId6"/>
    <p:sldLayoutId id="2147484173" r:id="rId7"/>
    <p:sldLayoutId id="2147484174" r:id="rId8"/>
    <p:sldLayoutId id="2147484175" r:id="rId9"/>
    <p:sldLayoutId id="2147484176" r:id="rId10"/>
    <p:sldLayoutId id="2147484177" r:id="rId11"/>
    <p:sldLayoutId id="2147484178" r:id="rId12"/>
    <p:sldLayoutId id="2147484179" r:id="rId13"/>
    <p:sldLayoutId id="2147484180" r:id="rId14"/>
    <p:sldLayoutId id="2147484181" r:id="rId15"/>
    <p:sldLayoutId id="2147484182" r:id="rId16"/>
    <p:sldLayoutId id="2147484183" r:id="rId17"/>
    <p:sldLayoutId id="2147484184" r:id="rId18"/>
    <p:sldLayoutId id="2147484185" r:id="rId19"/>
    <p:sldLayoutId id="2147484186" r:id="rId20"/>
    <p:sldLayoutId id="2147484187" r:id="rId21"/>
    <p:sldLayoutId id="2147484188" r:id="rId22"/>
    <p:sldLayoutId id="2147484189" r:id="rId23"/>
    <p:sldLayoutId id="2147484190" r:id="rId24"/>
    <p:sldLayoutId id="2147484191" r:id="rId25"/>
    <p:sldLayoutId id="2147484192" r:id="rId26"/>
    <p:sldLayoutId id="2147484193" r:id="rId27"/>
    <p:sldLayoutId id="2147484194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0BE89-B9F3-FB18-5706-2B61FA2C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970" y="1026367"/>
            <a:ext cx="9703837" cy="1911095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FRAUD DETECTION USING DISTRIBUTED LEDGER ANALYTICS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44C1F-261E-5301-BAF2-EFA1602E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5010912"/>
            <a:ext cx="11768328" cy="191109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dirty="0"/>
              <a:t>Team Members: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2300030118 – Ch. Deekshitha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2300030655 – S. Akshaya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2300031209 – G. Alekhya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2300032688 – A. Nikitha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68A6C-77E8-B2EC-395C-C6F4D8A28D0E}"/>
              </a:ext>
            </a:extLst>
          </p:cNvPr>
          <p:cNvSpPr txBox="1"/>
          <p:nvPr/>
        </p:nvSpPr>
        <p:spPr>
          <a:xfrm>
            <a:off x="1949351" y="1847088"/>
            <a:ext cx="1139753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5400" dirty="0"/>
          </a:p>
          <a:p>
            <a:r>
              <a:rPr lang="en-IN" sz="5400" dirty="0"/>
              <a:t>	</a:t>
            </a: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guidance of:</a:t>
            </a: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Mr. M. Subba Rao[MTech]</a:t>
            </a: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Assistant Professor</a:t>
            </a:r>
          </a:p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Department of CSE-3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Welcome to K L University">
            <a:extLst>
              <a:ext uri="{FF2B5EF4-FFF2-40B4-BE49-F238E27FC236}">
                <a16:creationId xmlns:a16="http://schemas.microsoft.com/office/drawing/2014/main" id="{CCB7DF1C-3461-4188-E308-23A9980E0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631" y="97699"/>
            <a:ext cx="3938606" cy="98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27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9714-7CD1-4D31-5265-16AAAEEAA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54793-BED7-11B6-0F38-73C8374B1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cryptocurrency transactions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increased the risk of fraudulent and suspicious activities, while the large volume and complexity of blockchain transactions make manual fraud detection difficult and time-consuming.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fraud detection approaches often identify fraud only after the transaction has occurred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increasing the risk of financial loss. Hence, there is a need for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intelligent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patterns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Ledger Analytics and Machine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suspicious activities early.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fraud awareness by alerting the sender before transaction completion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helping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financial risk and enable more secure cryptocurrency transactions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Welcome to K L University">
            <a:extLst>
              <a:ext uri="{FF2B5EF4-FFF2-40B4-BE49-F238E27FC236}">
                <a16:creationId xmlns:a16="http://schemas.microsoft.com/office/drawing/2014/main" id="{7690A287-DECE-BA77-BC36-D39BE4775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623" y="402336"/>
            <a:ext cx="3938606" cy="98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343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25DA-D6BD-447D-94B1-342CD2ED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SRS(Software requirement specification)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292B6-7B02-44D0-C1D6-C6566E250109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input and data validation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analysis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profiling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and pattern matching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classification: Low / Medium / High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Alerts, verification, and hold mechanisms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Ledger recording and admin monitoring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0C97B-642E-9D64-9B16-C14BBD1FACE9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— encrypted data and access controls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— consistent and accurate outputs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— low-latency transaction processing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— supports growing transaction volumes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— intuitive dashboard interface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Hardware: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Raspberry Pi 4, 64 GB MicroSD, Router/Network, Power Supply, Cooling System</a:t>
            </a:r>
          </a:p>
          <a:p>
            <a:endParaRPr lang="en-IN" dirty="0"/>
          </a:p>
        </p:txBody>
      </p:sp>
      <p:pic>
        <p:nvPicPr>
          <p:cNvPr id="6" name="Picture 5" descr="Welcome to K L University">
            <a:extLst>
              <a:ext uri="{FF2B5EF4-FFF2-40B4-BE49-F238E27FC236}">
                <a16:creationId xmlns:a16="http://schemas.microsoft.com/office/drawing/2014/main" id="{A01337CE-5EDB-514E-0947-A81500D68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759" y="128016"/>
            <a:ext cx="3938606" cy="98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94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EC7A-B3DB-703F-B6F7-54E24DFD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Welcome to K L University">
            <a:extLst>
              <a:ext uri="{FF2B5EF4-FFF2-40B4-BE49-F238E27FC236}">
                <a16:creationId xmlns:a16="http://schemas.microsoft.com/office/drawing/2014/main" id="{C02B6832-3916-5FD4-504E-9249241BD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993" y="205099"/>
            <a:ext cx="3938606" cy="984651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133B7DC-1BB2-6ABD-F773-572EF2454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4128" y="1658938"/>
            <a:ext cx="9747503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47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9D59-A2A6-6821-2A99-1457ED6B5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66344"/>
            <a:ext cx="10741152" cy="113225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FBE10E-0595-795F-C190-A882294D6B29}"/>
              </a:ext>
            </a:extLst>
          </p:cNvPr>
          <p:cNvSpPr/>
          <p:nvPr/>
        </p:nvSpPr>
        <p:spPr>
          <a:xfrm>
            <a:off x="815340" y="2112264"/>
            <a:ext cx="2880360" cy="1481328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IN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Module</a:t>
            </a:r>
          </a:p>
          <a:p>
            <a:r>
              <a:rPr lang="en-IN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Accepts and validates transaction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1D54B-6394-8770-838D-523BCB6E15EB}"/>
              </a:ext>
            </a:extLst>
          </p:cNvPr>
          <p:cNvSpPr/>
          <p:nvPr/>
        </p:nvSpPr>
        <p:spPr>
          <a:xfrm>
            <a:off x="4041648" y="2112264"/>
            <a:ext cx="2944368" cy="1481328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IN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Module</a:t>
            </a:r>
          </a:p>
          <a:p>
            <a:r>
              <a:rPr lang="en-IN" dirty="0" err="1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</a:t>
            </a:r>
            <a:r>
              <a:rPr lang="en-IN" dirty="0" err="1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patterns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9FD208-4408-E116-6E64-F509D32BB583}"/>
              </a:ext>
            </a:extLst>
          </p:cNvPr>
          <p:cNvSpPr/>
          <p:nvPr/>
        </p:nvSpPr>
        <p:spPr>
          <a:xfrm>
            <a:off x="7438644" y="2112264"/>
            <a:ext cx="2601468" cy="1481328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</a:t>
            </a:r>
          </a:p>
          <a:p>
            <a:r>
              <a:rPr lang="en-IN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suspicious wallet and transaction </a:t>
            </a:r>
            <a:r>
              <a:rPr lang="en-IN" dirty="0" err="1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6D3471-0696-72AF-A851-2C8ECEAA88CD}"/>
              </a:ext>
            </a:extLst>
          </p:cNvPr>
          <p:cNvSpPr/>
          <p:nvPr/>
        </p:nvSpPr>
        <p:spPr>
          <a:xfrm>
            <a:off x="815340" y="3732422"/>
            <a:ext cx="2880360" cy="1335023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IN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</a:t>
            </a:r>
          </a:p>
          <a:p>
            <a:r>
              <a:rPr lang="en-IN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Determines Low / Medium / High risk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58968C-ADBF-AE8A-9DAB-C379131F25AC}"/>
              </a:ext>
            </a:extLst>
          </p:cNvPr>
          <p:cNvSpPr/>
          <p:nvPr/>
        </p:nvSpPr>
        <p:spPr>
          <a:xfrm>
            <a:off x="4123944" y="3732422"/>
            <a:ext cx="2798064" cy="133502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IN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&amp; Verification</a:t>
            </a:r>
          </a:p>
          <a:p>
            <a:r>
              <a:rPr lang="en-IN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suspicious transaction alerts and holds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27D5F2-472C-F09F-204F-FD432ED3E6BA}"/>
              </a:ext>
            </a:extLst>
          </p:cNvPr>
          <p:cNvSpPr/>
          <p:nvPr/>
        </p:nvSpPr>
        <p:spPr>
          <a:xfrm>
            <a:off x="7438644" y="3732422"/>
            <a:ext cx="2601468" cy="1335023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IN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Ledger Module</a:t>
            </a:r>
          </a:p>
          <a:p>
            <a:r>
              <a:rPr lang="en-IN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immutable transaction records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1805FD-EF70-5EA3-3DDC-280F91B1C287}"/>
              </a:ext>
            </a:extLst>
          </p:cNvPr>
          <p:cNvSpPr/>
          <p:nvPr/>
        </p:nvSpPr>
        <p:spPr>
          <a:xfrm>
            <a:off x="815340" y="5230368"/>
            <a:ext cx="2958084" cy="961718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IN" b="1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r>
              <a:rPr lang="en-IN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results, alerts, and monitoring data</a:t>
            </a:r>
          </a:p>
        </p:txBody>
      </p:sp>
      <p:pic>
        <p:nvPicPr>
          <p:cNvPr id="32" name="Picture 31" descr="Welcome to K L University">
            <a:extLst>
              <a:ext uri="{FF2B5EF4-FFF2-40B4-BE49-F238E27FC236}">
                <a16:creationId xmlns:a16="http://schemas.microsoft.com/office/drawing/2014/main" id="{D88CBDE1-F0AA-5FC6-3CBC-38CD45571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007" y="191041"/>
            <a:ext cx="3938606" cy="98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57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0FDA-1D11-BD12-69A7-D9A9CFD3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AND MODEL IMPLEMETATION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4297-D86C-A289-B84B-E9247A464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981944" cy="4925000"/>
          </a:xfrm>
        </p:spPr>
        <p:txBody>
          <a:bodyPr/>
          <a:lstStyle/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→ Validation → Feature Extraction → Risk Model → Score → Classification → Alert → Verification/Hold → Status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categories: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Risk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Risk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7" name="Picture 6" descr="Welcome to K L University">
            <a:extLst>
              <a:ext uri="{FF2B5EF4-FFF2-40B4-BE49-F238E27FC236}">
                <a16:creationId xmlns:a16="http://schemas.microsoft.com/office/drawing/2014/main" id="{5277D92D-936D-91C8-CDB6-547B6F30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761" y="-7042"/>
            <a:ext cx="3938606" cy="984651"/>
          </a:xfrm>
          <a:prstGeom prst="rect">
            <a:avLst/>
          </a:prstGeom>
        </p:spPr>
      </p:pic>
      <p:pic>
        <p:nvPicPr>
          <p:cNvPr id="5" name="Picture 4" descr="Generated image 1">
            <a:extLst>
              <a:ext uri="{FF2B5EF4-FFF2-40B4-BE49-F238E27FC236}">
                <a16:creationId xmlns:a16="http://schemas.microsoft.com/office/drawing/2014/main" id="{941C2D55-EBAB-15E6-E543-558CB12F4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267711"/>
            <a:ext cx="9610344" cy="431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5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064CA-2245-8C07-95B2-93C1C97B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402336"/>
            <a:ext cx="10869168" cy="813816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 AND PROTOTYPE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D91D78-97B0-09E7-E10C-811B65A3F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632" y="1581913"/>
            <a:ext cx="5251201" cy="2816352"/>
          </a:xfrm>
          <a:prstGeom prst="rect">
            <a:avLst/>
          </a:prstGeom>
        </p:spPr>
      </p:pic>
      <p:pic>
        <p:nvPicPr>
          <p:cNvPr id="7" name="Picture 6" descr="Welcome to K L University">
            <a:extLst>
              <a:ext uri="{FF2B5EF4-FFF2-40B4-BE49-F238E27FC236}">
                <a16:creationId xmlns:a16="http://schemas.microsoft.com/office/drawing/2014/main" id="{1573D574-15CB-A0D7-8CB3-79571E8E7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993" y="101372"/>
            <a:ext cx="3938606" cy="9846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16E5A5-1B6F-BA79-19C2-C173ECC65BE1}"/>
              </a:ext>
            </a:extLst>
          </p:cNvPr>
          <p:cNvSpPr txBox="1"/>
          <p:nvPr/>
        </p:nvSpPr>
        <p:spPr>
          <a:xfrm>
            <a:off x="347472" y="4764026"/>
            <a:ext cx="5989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flow: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→ Analysis → Risk Detection → Alert → Verification/Hold → Status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0B1C2-116A-52BE-BF18-EA054C80FF6F}"/>
              </a:ext>
            </a:extLst>
          </p:cNvPr>
          <p:cNvSpPr txBox="1"/>
          <p:nvPr/>
        </p:nvSpPr>
        <p:spPr>
          <a:xfrm>
            <a:off x="6096000" y="2267713"/>
            <a:ext cx="52512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input module —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analysis logic —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Fraud-risk detection logic —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status generation —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transactions trigger alerts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software prototype —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002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B86A-E1D1-8A67-3AD2-78373A1F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606" y="365760"/>
            <a:ext cx="9324594" cy="1132258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INTERFACING AND PARTIAL PROTOTYPE</a:t>
            </a:r>
          </a:p>
        </p:txBody>
      </p:sp>
      <p:pic>
        <p:nvPicPr>
          <p:cNvPr id="10" name="Picture 9" descr="Welcome to K L University">
            <a:extLst>
              <a:ext uri="{FF2B5EF4-FFF2-40B4-BE49-F238E27FC236}">
                <a16:creationId xmlns:a16="http://schemas.microsoft.com/office/drawing/2014/main" id="{A0C8AD57-4CB8-B5DB-6E5F-0F7218A67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457" y="0"/>
            <a:ext cx="3938606" cy="9846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AE3844-69E3-D197-950E-2CBAE13B3257}"/>
              </a:ext>
            </a:extLst>
          </p:cNvPr>
          <p:cNvSpPr txBox="1"/>
          <p:nvPr/>
        </p:nvSpPr>
        <p:spPr>
          <a:xfrm>
            <a:off x="276606" y="2173147"/>
            <a:ext cx="38473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Edge Node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4 identified as edge/ledger node —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procurement pending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C8019-9E34-CE23-0D1E-7AFFFAAC687E}"/>
              </a:ext>
            </a:extLst>
          </p:cNvPr>
          <p:cNvSpPr txBox="1"/>
          <p:nvPr/>
        </p:nvSpPr>
        <p:spPr>
          <a:xfrm>
            <a:off x="4315968" y="2173147"/>
            <a:ext cx="3931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Identified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GB MicroSD, router, power supply, cooling system — all specified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48A0A0-0B4B-5E87-1E23-928A8C22F0A6}"/>
              </a:ext>
            </a:extLst>
          </p:cNvPr>
          <p:cNvSpPr txBox="1"/>
          <p:nvPr/>
        </p:nvSpPr>
        <p:spPr>
          <a:xfrm>
            <a:off x="7979664" y="2169808"/>
            <a:ext cx="34930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Prototype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independently; hardware interfacing to follow procurement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2354DA-3288-745D-3C6E-A0550F1D9038}"/>
              </a:ext>
            </a:extLst>
          </p:cNvPr>
          <p:cNvSpPr txBox="1"/>
          <p:nvPr/>
        </p:nvSpPr>
        <p:spPr>
          <a:xfrm>
            <a:off x="137160" y="3244334"/>
            <a:ext cx="9555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setup: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Laptop/Application → Network → Raspberry Pi 4 → Distributed Ledger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223A10D-EA1C-C3F5-02B6-EB7173C8B0F6}"/>
              </a:ext>
            </a:extLst>
          </p:cNvPr>
          <p:cNvSpPr/>
          <p:nvPr/>
        </p:nvSpPr>
        <p:spPr>
          <a:xfrm>
            <a:off x="438912" y="3613666"/>
            <a:ext cx="3291840" cy="920017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/>
              <a:t>Laptop / App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23F330C-A482-E59C-8D49-A9C4C0C9905A}"/>
              </a:ext>
            </a:extLst>
          </p:cNvPr>
          <p:cNvSpPr/>
          <p:nvPr/>
        </p:nvSpPr>
        <p:spPr>
          <a:xfrm>
            <a:off x="438912" y="4508613"/>
            <a:ext cx="3877056" cy="721755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/>
              <a:t>Network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36D022A-1C2C-84FD-CE84-4A1D4EB32F05}"/>
              </a:ext>
            </a:extLst>
          </p:cNvPr>
          <p:cNvSpPr/>
          <p:nvPr/>
        </p:nvSpPr>
        <p:spPr>
          <a:xfrm>
            <a:off x="438912" y="5303520"/>
            <a:ext cx="4407408" cy="821795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/>
              <a:t>Planned Edge Node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C595013-C1F3-1328-337D-0C6D0E873E77}"/>
              </a:ext>
            </a:extLst>
          </p:cNvPr>
          <p:cNvSpPr/>
          <p:nvPr/>
        </p:nvSpPr>
        <p:spPr>
          <a:xfrm>
            <a:off x="438912" y="6125315"/>
            <a:ext cx="4791456" cy="641245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/>
              <a:t>Distributed Ledger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4FB84BA-23E5-55FB-A028-55B1B4018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3785616"/>
            <a:ext cx="5522976" cy="288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88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DA86-EFEC-46A1-4DA1-E12674A5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" y="0"/>
            <a:ext cx="8540496" cy="190195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Testing, Review-1 Improvements &amp; Teamwork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6D124-1272-DF27-8801-4277D9053CB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transaction testing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transaction testing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 testing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generation testing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module testing</a:t>
            </a:r>
          </a:p>
          <a:p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Review-1 Improvements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Refined problem statement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architecture diagram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fraud detection workflow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hardware requirements</a:t>
            </a:r>
          </a:p>
          <a:p>
            <a:pPr lvl="0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core implementation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0BAAE-D9AC-EAF0-C44E-3F752D99564F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IN" b="1" dirty="0"/>
              <a:t>Task Distribution</a:t>
            </a:r>
          </a:p>
          <a:p>
            <a:pPr lvl="0"/>
            <a:r>
              <a:rPr lang="en-IN" b="1" dirty="0"/>
              <a:t>Deekshitha</a:t>
            </a:r>
            <a:r>
              <a:rPr lang="en-IN" dirty="0"/>
              <a:t> — System Integration &amp; Frontend</a:t>
            </a:r>
          </a:p>
          <a:p>
            <a:pPr lvl="0"/>
            <a:r>
              <a:rPr lang="en-IN" b="1" dirty="0"/>
              <a:t>Nikhitha</a:t>
            </a:r>
            <a:r>
              <a:rPr lang="en-IN" dirty="0"/>
              <a:t> — Data Engineering</a:t>
            </a:r>
          </a:p>
          <a:p>
            <a:pPr lvl="0"/>
            <a:r>
              <a:rPr lang="en-IN" b="1" dirty="0"/>
              <a:t>Akshaya</a:t>
            </a:r>
            <a:r>
              <a:rPr lang="en-IN" dirty="0"/>
              <a:t> — Fraud Detection</a:t>
            </a:r>
          </a:p>
          <a:p>
            <a:pPr lvl="0"/>
            <a:r>
              <a:rPr lang="en-IN" b="1" dirty="0"/>
              <a:t>Alekhya</a:t>
            </a:r>
            <a:r>
              <a:rPr lang="en-IN" dirty="0"/>
              <a:t> — Dashboard</a:t>
            </a:r>
          </a:p>
          <a:p>
            <a:endParaRPr lang="en-IN" dirty="0"/>
          </a:p>
        </p:txBody>
      </p:sp>
      <p:pic>
        <p:nvPicPr>
          <p:cNvPr id="6" name="Picture 5" descr="Welcome to K L University">
            <a:extLst>
              <a:ext uri="{FF2B5EF4-FFF2-40B4-BE49-F238E27FC236}">
                <a16:creationId xmlns:a16="http://schemas.microsoft.com/office/drawing/2014/main" id="{310042F5-DEBE-E6CE-8617-74B9F9199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463" y="100584"/>
            <a:ext cx="3938606" cy="98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5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0BCA-8A7E-2744-F9C2-36FDA36A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8933688" cy="113225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 AND FUTURE WORK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B81FC-D250-CCCF-0BC5-6722EBABA65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SRS prepared and reviewed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designed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fraud detection module developed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software prototype available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initiated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 identified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procurement pending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F0B44-531B-7D00-1464-7A36001ADA1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Procure Raspberry Pi and hardware components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Raspberry Pi interfacing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distributed ledger node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full system integration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comprehensive end-to-end testing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accuracy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complete prototype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Welcome to K L University">
            <a:extLst>
              <a:ext uri="{FF2B5EF4-FFF2-40B4-BE49-F238E27FC236}">
                <a16:creationId xmlns:a16="http://schemas.microsoft.com/office/drawing/2014/main" id="{37F81C2A-88E1-AB9D-99F4-6C23B9C8D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623" y="118872"/>
            <a:ext cx="3938606" cy="98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19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881A61-6E5F-9FA9-2E7C-E7EC1C595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64008"/>
            <a:ext cx="10287000" cy="679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60905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461</TotalTime>
  <Words>602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Felix Titling</vt:lpstr>
      <vt:lpstr>Goudy Old Style</vt:lpstr>
      <vt:lpstr>Times New Roman</vt:lpstr>
      <vt:lpstr>Archway</vt:lpstr>
      <vt:lpstr>CRYPTOCURRENCY FRAUD DETECTION USING DISTRIBUTED LEDGER ANALYTICS </vt:lpstr>
      <vt:lpstr>PROBLEM STATEMENT</vt:lpstr>
      <vt:lpstr>SRS(Software requirement specification)</vt:lpstr>
      <vt:lpstr>SYSTEM ARCHITECTURE</vt:lpstr>
      <vt:lpstr>System modules</vt:lpstr>
      <vt:lpstr>ALGORITHM AND MODEL IMPLEMETATION</vt:lpstr>
      <vt:lpstr>CORE MODULE AND PROTOTYPE</vt:lpstr>
      <vt:lpstr>HARDWARE INTERFACING AND PARTIAL PROTOTYPE</vt:lpstr>
      <vt:lpstr>Testing, Review-1 Improvements &amp; Teamwork </vt:lpstr>
      <vt:lpstr>CURRENT STATUS AND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CHAPA DEEKSHITHA</dc:creator>
  <cp:lastModifiedBy>CHAPA DEEKSHITHA</cp:lastModifiedBy>
  <cp:revision>13</cp:revision>
  <dcterms:created xsi:type="dcterms:W3CDTF">2026-08-17T04:23:07Z</dcterms:created>
  <dcterms:modified xsi:type="dcterms:W3CDTF">2026-09-21T06:32:46Z</dcterms:modified>
</cp:coreProperties>
</file>